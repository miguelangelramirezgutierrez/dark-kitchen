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94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E859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FFB70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ANGEL RAMIREZ | ANDRES FELIPE MEJIA  ·  COTECNOVA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QuickFood ERP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Empresarial para Dark Kitchen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2377440" cy="3657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empresa, procesos y modelo de datos del proyecto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50749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Elaboración, preparación y comercialización de comidas rápidas y bebidas con servicio exclusivo a domicilio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exposición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empresa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3317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negocio: Dark Kitchen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48840"/>
            <a:ext cx="548640" cy="54864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19385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23317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Cuellos de botella operativos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3630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procesos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0233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pedido de punta a punta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840480"/>
            <a:ext cx="548640" cy="54864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3630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del pedido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40233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una orden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532120"/>
            <a:ext cx="548640" cy="54864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532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08760" y="5321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(MER)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7150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entidades del negocio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51206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5532120"/>
            <a:ext cx="548640" cy="54864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532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69480" y="5321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resultados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69480" y="57150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pruebas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 EMPRESA ELEGIDA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QuickFood: una Dark Kitchen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gastronómica ficticia especializada en comida rápida artesanal, preparada bajo comanda y despachada exclusivamente a domicilio — sin sala de atención al público.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87121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local de atención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1821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operación ocurre en cocina; no hay salón para comensales.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73989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bajo pedido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0507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comanda se cocina al momento en que se recibe.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60857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exclusivo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9194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canal de entrega es el domicilio, vía domiciliarios propios.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0" y="160020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B1B26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DEL PEDIDO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331720"/>
            <a:ext cx="365760" cy="3657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23500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2715768"/>
            <a:ext cx="0" cy="256032"/>
          </a:xfrm>
          <a:prstGeom prst="line">
            <a:avLst/>
          </a:prstGeom>
          <a:noFill/>
          <a:ln w="19050">
            <a:solidFill>
              <a:srgbClr val="6B6B7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635240" y="2953512"/>
            <a:ext cx="365760" cy="3657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29718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18120" y="3337560"/>
            <a:ext cx="0" cy="256032"/>
          </a:xfrm>
          <a:prstGeom prst="line">
            <a:avLst/>
          </a:prstGeom>
          <a:noFill/>
          <a:ln w="19050">
            <a:solidFill>
              <a:srgbClr val="6B6B7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635240" y="3575304"/>
            <a:ext cx="365760" cy="3657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35935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18120" y="3959352"/>
            <a:ext cx="0" cy="256032"/>
          </a:xfrm>
          <a:prstGeom prst="line">
            <a:avLst/>
          </a:prstGeom>
          <a:noFill/>
          <a:ln w="19050">
            <a:solidFill>
              <a:srgbClr val="6B6B7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635240" y="4197096"/>
            <a:ext cx="365760" cy="3657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4197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38160" y="42153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(empaque)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818120" y="4581144"/>
            <a:ext cx="0" cy="256032"/>
          </a:xfrm>
          <a:prstGeom prst="line">
            <a:avLst/>
          </a:prstGeom>
          <a:noFill/>
          <a:ln w="19050">
            <a:solidFill>
              <a:srgbClr val="6B6B7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635240" y="4818888"/>
            <a:ext cx="365760" cy="3657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7" name="Text 35"/>
          <p:cNvSpPr/>
          <p:nvPr/>
        </p:nvSpPr>
        <p:spPr>
          <a:xfrm>
            <a:off x="7635240" y="4818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38160" y="4837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camino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818120" y="5202936"/>
            <a:ext cx="0" cy="256032"/>
          </a:xfrm>
          <a:prstGeom prst="line">
            <a:avLst/>
          </a:prstGeom>
          <a:noFill/>
          <a:ln w="19050">
            <a:solidFill>
              <a:srgbClr val="6B6B7D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635240" y="544068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1" name="Text 39"/>
          <p:cNvSpPr/>
          <p:nvPr/>
        </p:nvSpPr>
        <p:spPr>
          <a:xfrm>
            <a:off x="763524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38160" y="54589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recaudo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DIAGNÓSTICO OPERATIVO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identificado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en papel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Comandas manuales que se extravían o son ilegibles en horas pico.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Descoordinación con domiciliarios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303580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visibilidad de quién lleva qué pedido ni en qué ruta va.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obsoletas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45896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despachados a direcciones desactualizadas del cliente.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160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43484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50749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control de stock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545896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inventario disponible al momento de vender.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E8590C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Centralizar el ciclo neurálgico del negocio en un solo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ERP a la medida — no una simple página de menú — que gestiona pedidos, inventario, domiciliarios y cobros de forma integrada.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B2B3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seguimiento y cálculo automático de totales.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6517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B2B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92608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4251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Decremento de stock en tiempo real por cada venta.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B2B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92608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estados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4251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Recibido a Entregado, sin pasos perdidos.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6517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B2B3D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1160" y="292608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confiables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4251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 integridad referencial entre entidades.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FLUJO OPERATIVO DE PUNTA A PUNTA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identificados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1600200" cy="1280160"/>
          </a:xfrm>
          <a:prstGeom prst="roundRect">
            <a:avLst>
              <a:gd name="adj" fmla="val 7143"/>
            </a:avLst>
          </a:prstGeom>
          <a:solidFill>
            <a:srgbClr val="2B2B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48840" y="3017520"/>
            <a:ext cx="310896" cy="0"/>
          </a:xfrm>
          <a:prstGeom prst="line">
            <a:avLst/>
          </a:prstGeom>
          <a:noFill/>
          <a:ln w="2540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59736" y="2377440"/>
            <a:ext cx="1600200" cy="1280160"/>
          </a:xfrm>
          <a:prstGeom prst="roundRect">
            <a:avLst>
              <a:gd name="adj" fmla="val 7143"/>
            </a:avLst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2505456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(Recibido)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59936" y="3017520"/>
            <a:ext cx="310896" cy="0"/>
          </a:xfrm>
          <a:prstGeom prst="line">
            <a:avLst/>
          </a:prstGeom>
          <a:noFill/>
          <a:ln w="2540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70832" y="2377440"/>
            <a:ext cx="1600200" cy="1280160"/>
          </a:xfrm>
          <a:prstGeom prst="roundRect">
            <a:avLst>
              <a:gd name="adj" fmla="val 7143"/>
            </a:avLst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(Cocina)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71032" y="3017520"/>
            <a:ext cx="310896" cy="0"/>
          </a:xfrm>
          <a:prstGeom prst="line">
            <a:avLst/>
          </a:prstGeom>
          <a:noFill/>
          <a:ln w="2540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81928" y="2377440"/>
            <a:ext cx="1600200" cy="1280160"/>
          </a:xfrm>
          <a:prstGeom prst="roundRect">
            <a:avLst>
              <a:gd name="adj" fmla="val 7143"/>
            </a:avLst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(Listo)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82128" y="3017520"/>
            <a:ext cx="310896" cy="0"/>
          </a:xfrm>
          <a:prstGeom prst="line">
            <a:avLst/>
          </a:prstGeom>
          <a:noFill/>
          <a:ln w="2540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93024" y="2377440"/>
            <a:ext cx="1600200" cy="1280160"/>
          </a:xfrm>
          <a:prstGeom prst="roundRect">
            <a:avLst>
              <a:gd name="adj" fmla="val 7143"/>
            </a:avLst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camino)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93224" y="3017520"/>
            <a:ext cx="310896" cy="0"/>
          </a:xfrm>
          <a:prstGeom prst="line">
            <a:avLst/>
          </a:prstGeom>
          <a:noFill/>
          <a:ln w="2540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04120" y="2377440"/>
            <a:ext cx="1600200" cy="1280160"/>
          </a:xfrm>
          <a:prstGeom prst="roundRect">
            <a:avLst>
              <a:gd name="adj" fmla="val 7143"/>
            </a:avLst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cobro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avanza de forma lineal por seis etapas. El módulo futuro de compras de insumos se conectará antes de “Preparación” para reponer el stock consumido.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0424160" cy="100584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93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4681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del flujo corresponde directamente a un estado registrado del pedido dentro del sistema (ver diapositiva siguiente).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MÁQUINA DE ESTADOS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estados del 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1737360"/>
            <a:ext cx="640080" cy="640080"/>
          </a:xfrm>
          <a:prstGeom prst="ellipse">
            <a:avLst/>
          </a:prstGeom>
          <a:solidFill>
            <a:srgbClr val="5B7FDE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registrada con dirección y productos.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2057400"/>
            <a:ext cx="400050" cy="0"/>
          </a:xfrm>
          <a:prstGeom prst="line">
            <a:avLst/>
          </a:prstGeom>
          <a:noFill/>
          <a:ln w="25400">
            <a:solidFill>
              <a:srgbClr val="D8D8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0430" y="173736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/>
          <p:nvPr/>
        </p:nvSpPr>
        <p:spPr>
          <a:xfrm>
            <a:off x="344043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2321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2321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procesando la comanda.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7730" y="2057400"/>
            <a:ext cx="400050" cy="0"/>
          </a:xfrm>
          <a:prstGeom prst="line">
            <a:avLst/>
          </a:prstGeom>
          <a:noFill/>
          <a:ln w="25400">
            <a:solidFill>
              <a:srgbClr val="D8D8D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15000" y="173736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9778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9778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 empacado, listo para recoger.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72300" y="2057400"/>
            <a:ext cx="400050" cy="0"/>
          </a:xfrm>
          <a:prstGeom prst="line">
            <a:avLst/>
          </a:prstGeom>
          <a:noFill/>
          <a:ln w="25400">
            <a:solidFill>
              <a:srgbClr val="D8D8D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89570" y="173736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798957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7235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camino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7235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Domiciliario asignado, en ruta.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46870" y="2057400"/>
            <a:ext cx="400050" cy="0"/>
          </a:xfrm>
          <a:prstGeom prst="line">
            <a:avLst/>
          </a:prstGeom>
          <a:noFill/>
          <a:ln w="25400">
            <a:solidFill>
              <a:srgbClr val="D8D8D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64140" y="17373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2641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4692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4692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 y cobrado al cliente.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39776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CEB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416052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09160" y="4709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o cancelación: repone automáticamente el stock descontado.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V="1">
            <a:off x="6080760" y="3611880"/>
            <a:ext cx="0" cy="365760"/>
          </a:xfrm>
          <a:prstGeom prst="line">
            <a:avLst/>
          </a:prstGeom>
          <a:noFill/>
          <a:ln w="19050">
            <a:solidFill>
              <a:srgbClr val="C62828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ARQUITECTURA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datos: Entidad-Relación (MER)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91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B2B3D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691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B2B3D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1691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B2B3D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DOMICILIARIOS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691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B2B3D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METODOS_PAGO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8590C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30632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8590C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4434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B703"/>
          </a:solidFill>
          <a:ln w="12700">
            <a:solidFill>
              <a:srgbClr val="1B1B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434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PEDIDO_DETALLES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2194560"/>
            <a:ext cx="0" cy="86868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143000" y="2500884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23360" y="2194560"/>
            <a:ext cx="2743200" cy="86868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120640" y="2500884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29400" y="2194560"/>
            <a:ext cx="137160" cy="86868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23660" y="2500884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flipH="1">
            <a:off x="6766560" y="2194560"/>
            <a:ext cx="2468880" cy="86868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726680" y="2500884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417320" y="3566160"/>
            <a:ext cx="2697480" cy="86868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491740" y="3872484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H="1">
            <a:off x="5394960" y="3566160"/>
            <a:ext cx="1371600" cy="86868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806440" y="3872484"/>
            <a:ext cx="5486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relaciones 1:N conectan 7 entidades de negocio con llaves foráneas e integridad referencial.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DICCIONARIO A ALTO NIVEL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del negocio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973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97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1122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productos del menú (hasMany Productos).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6556248" y="189738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897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7830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78040" y="211226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del menú con precio y stock (belongsTo Categoria).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24912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930652"/>
            <a:ext cx="457200" cy="45720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9306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31455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dirección de entrega (hasMany Pedidos).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2724912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6248" y="2930652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29306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28163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78040" y="31455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con cliente, domiciliario, método de pago y detalles.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58184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3963924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9639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38496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Domiciliarios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71600" y="417880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Encargados del reparto (hasMany Pedidos).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3758184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556248" y="3963924"/>
            <a:ext cx="457200" cy="457200"/>
          </a:xfrm>
          <a:prstGeom prst="ellipse">
            <a:avLst/>
          </a:prstGeom>
          <a:solidFill>
            <a:srgbClr val="1B1B26"/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39639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38496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Metodos_Pago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78040" y="417880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pago disponibles (hasMany Pedidos).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91456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4997196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49971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71600" y="488289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Pedido_Detalles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371600" y="52120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producto y cantidad por pedido.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STACK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tecnológica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55680" cy="18288"/>
          </a:xfrm>
          <a:prstGeom prst="rect">
            <a:avLst/>
          </a:prstGeom>
          <a:solidFill>
            <a:srgbClr val="D8D8D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1B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11/12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B2B3D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28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8.3/8.5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1B2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828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B2B3D"/>
          </a:solidFill>
          <a:ln/>
        </p:spPr>
      </p:sp>
      <p:sp>
        <p:nvSpPr>
          <p:cNvPr id="12" name="Text 10"/>
          <p:cNvSpPr/>
          <p:nvPr/>
        </p:nvSpPr>
        <p:spPr>
          <a:xfrm>
            <a:off x="8915400" y="18288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Sail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1B2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B2B3D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4747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1B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78240" y="34747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B2B3D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de desarrollo con Laravel Sail sobre Docker: aislamiento total del entorno y arranque reproducible con un solo comando.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queda certificado con pruebas automatizadas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B2B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ejecutados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9659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B2B3D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2062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9659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B2B3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8638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10 registros coherentes por tabla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434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hasMany / belongsTo verificadas en ambos sentidos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937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de negocio (activos, pendientes, hoy) filtran correctamente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97764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totales y decremento de inventario al crear un pedido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44805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434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completa de estados del pedido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49834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4937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200+ vistas Blade responden HTTP 200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 |  Análisis del Proyecto  |  Cotecnova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E8590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QuickFood ERP — Análisis, procesos y modelo de datos de una Dark Kitchen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886200"/>
            <a:ext cx="2011680" cy="274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github.com/NiquelAwol/Dark-Kitchen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Cotecnova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908</Words>
  <Application>Microsoft Office PowerPoint</Application>
  <PresentationFormat>Panorámica</PresentationFormat>
  <Paragraphs>212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Scout</cp:lastModifiedBy>
  <cp:revision>3</cp:revision>
  <dcterms:created xsi:type="dcterms:W3CDTF">2026-09-24T20:45:26Z</dcterms:created>
  <dcterms:modified xsi:type="dcterms:W3CDTF">2026-09-24T20:47:39Z</dcterms:modified>
</cp:coreProperties>
</file>